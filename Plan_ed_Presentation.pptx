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day! Today I am presenting Plan_.ed, an offline-first mobile application designed to streamline shopping trips and errand planning by directly connecting shopping lists to local mall store directories, automatic cost estimates, and native device reminder alarms.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shoppers prepare checklists, they typically rely on generic notepad apps. But these notes are completely detached from mall directories, don't calculate real-time running budgets, and lack calendar alarm integration. Shoppers end up walking back and forth and overspending.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Plan_.ed solves this by bridging the gap between checklists and shopping destinations. It groups items by mall and store, tallies your budget in Philippine Peso, and schedules native device alarms so you never miss a trip.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live app walkthrough: </a:t>
            </a:r>
          </a:p>
          <a:p>
            <a:r>
              <a:t>1. Home Dashboard: Displays our adaptive list grid with collapsing header and instant search.</a:t>
            </a:r>
          </a:p>
          <a:p>
            <a:r>
              <a:t>2. Mall Directory &amp; Budgeting: Lets shoppers select between SM City Clark, MarQuee Mall, Nepo Mall, and Newpoint Mall, with live cost estimations in Philippine Pesos.</a:t>
            </a:r>
          </a:p>
          <a:p>
            <a:r>
              <a:t>3. Errand Calendar: Shows scheduled shopping dates and native reminder alarms.</a:t>
            </a:r>
          </a:p>
          <a:p>
            <a:r>
              <a:t>4. Batch Tools: Supports multi-select list deletion and sorting by date or last opened.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our architecture, we chose Expo SDK 57 and React Native for performance and cross-platform consistency. Data is secured via Supabase PostgreSQL using Row-Level Security, backed by client-side AsyncStorage for offline support.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Following the 80/20 rubric, Claude served as an interactive pair programmer. However, all core frontend component architecture, local mall data modeling, and theme styling were authored and directed by me, as detailed in our AI-USAGE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didn't take AI suggestions blindly. For example, when the AI's header animation caused violent list jitter, I analyzed the Yoga engine behavior and refactored the interpolation to use non-layout opacity and scale properties instead.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ahead, our next steps include integrating indoor mall maps for navigation, barcode scanning for instant price logging, and real-time shared family checklists. Thank you for listening, and feel free to try our APK build!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D4AF37"/>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lan_ed_presentation_logo.png"/>
          <p:cNvPicPr>
            <a:picLocks noChangeAspect="1"/>
          </p:cNvPicPr>
          <p:nvPr/>
        </p:nvPicPr>
        <p:blipFill>
          <a:blip r:embed="rId2"/>
          <a:stretch>
            <a:fillRect/>
          </a:stretch>
        </p:blipFill>
        <p:spPr>
          <a:xfrm>
            <a:off x="3261207" y="1188720"/>
            <a:ext cx="5669280" cy="2834640"/>
          </a:xfrm>
          <a:prstGeom prst="rect">
            <a:avLst/>
          </a:prstGeom>
        </p:spPr>
      </p:pic>
      <p:sp>
        <p:nvSpPr>
          <p:cNvPr id="4" name="TextBox 3"/>
          <p:cNvSpPr txBox="1"/>
          <p:nvPr/>
        </p:nvSpPr>
        <p:spPr>
          <a:xfrm>
            <a:off x="1371600" y="4114800"/>
            <a:ext cx="9445752" cy="822960"/>
          </a:xfrm>
          <a:prstGeom prst="rect">
            <a:avLst/>
          </a:prstGeom>
          <a:noFill/>
        </p:spPr>
        <p:txBody>
          <a:bodyPr wrap="square">
            <a:spAutoFit/>
          </a:bodyPr>
          <a:lstStyle/>
          <a:p>
            <a:pPr algn="ctr">
              <a:defRPr sz="2400" b="1">
                <a:solidFill>
                  <a:srgbClr val="1B2A4A"/>
                </a:solidFill>
              </a:defRPr>
            </a:pPr>
            <a:r>
              <a:t>Mall-Connected Shopping &amp; Errand Planner</a:t>
            </a:r>
          </a:p>
        </p:txBody>
      </p:sp>
      <p:sp>
        <p:nvSpPr>
          <p:cNvPr id="5" name="Rounded Rectangle 4"/>
          <p:cNvSpPr/>
          <p:nvPr/>
        </p:nvSpPr>
        <p:spPr>
          <a:xfrm>
            <a:off x="2926080" y="5029200"/>
            <a:ext cx="6336792" cy="11887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017520" y="5120640"/>
            <a:ext cx="6153912" cy="1005840"/>
          </a:xfrm>
          <a:prstGeom prst="rect">
            <a:avLst/>
          </a:prstGeom>
          <a:noFill/>
        </p:spPr>
        <p:txBody>
          <a:bodyPr wrap="square">
            <a:spAutoFit/>
          </a:bodyPr>
          <a:lstStyle/>
          <a:p>
            <a:pPr algn="ctr">
              <a:defRPr sz="1400" b="1">
                <a:solidFill>
                  <a:srgbClr val="1B2A4A"/>
                </a:solidFill>
              </a:defRPr>
            </a:pPr>
            <a:r>
              <a:t>Final Project Presentation — Full-Stack JavaScript &amp; Mobile Development</a:t>
            </a:r>
          </a:p>
          <a:p>
            <a:pPr algn="ctr">
              <a:defRPr sz="1200">
                <a:solidFill>
                  <a:srgbClr val="D4AF37"/>
                </a:solidFill>
              </a:defRPr>
            </a:pPr>
            <a:r>
              <a:t>React Native  •  Expo SDK 57  •  Supabase PostgreSQL  •  AsyncStorage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D4AF37"/>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8229600" cy="320040"/>
          </a:xfrm>
          <a:prstGeom prst="rect">
            <a:avLst/>
          </a:prstGeom>
          <a:noFill/>
        </p:spPr>
        <p:txBody>
          <a:bodyPr wrap="square">
            <a:spAutoFit/>
          </a:bodyPr>
          <a:lstStyle/>
          <a:p>
            <a:pPr>
              <a:defRPr sz="1100" b="1">
                <a:solidFill>
                  <a:srgbClr val="D4AF37"/>
                </a:solidFill>
              </a:defRPr>
            </a:pPr>
            <a:r>
              <a:t>THE PROBLEM</a:t>
            </a:r>
          </a:p>
        </p:txBody>
      </p:sp>
      <p:sp>
        <p:nvSpPr>
          <p:cNvPr id="4" name="TextBox 3"/>
          <p:cNvSpPr txBox="1"/>
          <p:nvPr/>
        </p:nvSpPr>
        <p:spPr>
          <a:xfrm>
            <a:off x="731520" y="594360"/>
            <a:ext cx="8686800" cy="777240"/>
          </a:xfrm>
          <a:prstGeom prst="rect">
            <a:avLst/>
          </a:prstGeom>
          <a:noFill/>
        </p:spPr>
        <p:txBody>
          <a:bodyPr wrap="square">
            <a:spAutoFit/>
          </a:bodyPr>
          <a:lstStyle/>
          <a:p>
            <a:pPr>
              <a:defRPr sz="2800" b="1">
                <a:solidFill>
                  <a:srgbClr val="1B2A4A"/>
                </a:solidFill>
              </a:defRPr>
            </a:pPr>
            <a:r>
              <a:t>The Problem with Traditional Errand Planning</a:t>
            </a:r>
          </a:p>
        </p:txBody>
      </p:sp>
      <p:pic>
        <p:nvPicPr>
          <p:cNvPr id="5" name="Picture 4" descr="plan_ed_presentation_logo.png"/>
          <p:cNvPicPr>
            <a:picLocks noChangeAspect="1"/>
          </p:cNvPicPr>
          <p:nvPr/>
        </p:nvPicPr>
        <p:blipFill>
          <a:blip r:embed="rId2"/>
          <a:stretch>
            <a:fillRect/>
          </a:stretch>
        </p:blipFill>
        <p:spPr>
          <a:xfrm>
            <a:off x="9875520" y="320040"/>
            <a:ext cx="1645920" cy="822960"/>
          </a:xfrm>
          <a:prstGeom prst="rect">
            <a:avLst/>
          </a:prstGeom>
        </p:spPr>
      </p:pic>
      <p:sp>
        <p:nvSpPr>
          <p:cNvPr id="6" name="Rounded Rectangle 5"/>
          <p:cNvSpPr/>
          <p:nvPr/>
        </p:nvSpPr>
        <p:spPr>
          <a:xfrm>
            <a:off x="731520" y="1645920"/>
            <a:ext cx="52120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74520"/>
            <a:ext cx="4663440" cy="1554480"/>
          </a:xfrm>
          <a:prstGeom prst="rect">
            <a:avLst/>
          </a:prstGeom>
          <a:noFill/>
        </p:spPr>
        <p:txBody>
          <a:bodyPr wrap="square">
            <a:spAutoFit/>
          </a:bodyPr>
          <a:lstStyle/>
          <a:p>
            <a:pPr>
              <a:defRPr sz="1800" b="1">
                <a:solidFill>
                  <a:srgbClr val="1B2A4A"/>
                </a:solidFill>
              </a:defRPr>
            </a:pPr>
            <a:r>
              <a:t>[!] Disconnected Shopping Notes</a:t>
            </a:r>
          </a:p>
          <a:p>
            <a:pPr>
              <a:defRPr sz="1400">
                <a:solidFill>
                  <a:srgbClr val="1E293B"/>
                </a:solidFill>
              </a:defRPr>
            </a:pPr>
            <a:r>
              <a:t>Generic note apps lack location and store context, leaving shoppers without store-level item organization.</a:t>
            </a:r>
          </a:p>
        </p:txBody>
      </p:sp>
      <p:sp>
        <p:nvSpPr>
          <p:cNvPr id="8" name="Rounded Rectangle 7"/>
          <p:cNvSpPr/>
          <p:nvPr/>
        </p:nvSpPr>
        <p:spPr>
          <a:xfrm>
            <a:off x="6172200" y="1645920"/>
            <a:ext cx="52120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874520"/>
            <a:ext cx="4663440" cy="1554480"/>
          </a:xfrm>
          <a:prstGeom prst="rect">
            <a:avLst/>
          </a:prstGeom>
          <a:noFill/>
        </p:spPr>
        <p:txBody>
          <a:bodyPr wrap="square">
            <a:spAutoFit/>
          </a:bodyPr>
          <a:lstStyle/>
          <a:p>
            <a:pPr>
              <a:defRPr sz="1800" b="1">
                <a:solidFill>
                  <a:srgbClr val="1B2A4A"/>
                </a:solidFill>
              </a:defRPr>
            </a:pPr>
            <a:r>
              <a:t>[!] Budget Surprises at Checkout</a:t>
            </a:r>
          </a:p>
          <a:p>
            <a:pPr>
              <a:defRPr sz="1400">
                <a:solidFill>
                  <a:srgbClr val="1E293B"/>
                </a:solidFill>
              </a:defRPr>
            </a:pPr>
            <a:r>
              <a:t>Without automatic item price tallies, shoppers lose track of estimated costs until reaching the cashier counter.</a:t>
            </a:r>
          </a:p>
        </p:txBody>
      </p:sp>
      <p:sp>
        <p:nvSpPr>
          <p:cNvPr id="10" name="Rounded Rectangle 9"/>
          <p:cNvSpPr/>
          <p:nvPr/>
        </p:nvSpPr>
        <p:spPr>
          <a:xfrm>
            <a:off x="731520" y="3931920"/>
            <a:ext cx="52120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60520"/>
            <a:ext cx="4663440" cy="1554480"/>
          </a:xfrm>
          <a:prstGeom prst="rect">
            <a:avLst/>
          </a:prstGeom>
          <a:noFill/>
        </p:spPr>
        <p:txBody>
          <a:bodyPr wrap="square">
            <a:spAutoFit/>
          </a:bodyPr>
          <a:lstStyle/>
          <a:p>
            <a:pPr>
              <a:defRPr sz="1800" b="1">
                <a:solidFill>
                  <a:srgbClr val="1B2A4A"/>
                </a:solidFill>
              </a:defRPr>
            </a:pPr>
            <a:r>
              <a:t>[!] Inefficient Mall Travel</a:t>
            </a:r>
          </a:p>
          <a:p>
            <a:pPr>
              <a:defRPr sz="1400">
                <a:solidFill>
                  <a:srgbClr val="1E293B"/>
                </a:solidFill>
              </a:defRPr>
            </a:pPr>
            <a:r>
              <a:t>Walking back and forth between supermarkets and department stores due to unorganized shopping checklists.</a:t>
            </a:r>
          </a:p>
        </p:txBody>
      </p:sp>
      <p:sp>
        <p:nvSpPr>
          <p:cNvPr id="12" name="Rounded Rectangle 11"/>
          <p:cNvSpPr/>
          <p:nvPr/>
        </p:nvSpPr>
        <p:spPr>
          <a:xfrm>
            <a:off x="6172200" y="3931920"/>
            <a:ext cx="52120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4160520"/>
            <a:ext cx="4663440" cy="1554480"/>
          </a:xfrm>
          <a:prstGeom prst="rect">
            <a:avLst/>
          </a:prstGeom>
          <a:noFill/>
        </p:spPr>
        <p:txBody>
          <a:bodyPr wrap="square">
            <a:spAutoFit/>
          </a:bodyPr>
          <a:lstStyle/>
          <a:p>
            <a:pPr>
              <a:defRPr sz="1800" b="1">
                <a:solidFill>
                  <a:srgbClr val="1B2A4A"/>
                </a:solidFill>
              </a:defRPr>
            </a:pPr>
            <a:r>
              <a:t>[!] Missed Errand Deadlines</a:t>
            </a:r>
          </a:p>
          <a:p>
            <a:pPr>
              <a:defRPr sz="1400">
                <a:solidFill>
                  <a:srgbClr val="1E293B"/>
                </a:solidFill>
              </a:defRPr>
            </a:pPr>
            <a:r>
              <a:t>Lack of calendar scheduling and native alarm alerts leads to forgotten shopping trips and errand delays.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D4AF37"/>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8229600" cy="320040"/>
          </a:xfrm>
          <a:prstGeom prst="rect">
            <a:avLst/>
          </a:prstGeom>
          <a:noFill/>
        </p:spPr>
        <p:txBody>
          <a:bodyPr wrap="square">
            <a:spAutoFit/>
          </a:bodyPr>
          <a:lstStyle/>
          <a:p>
            <a:pPr>
              <a:defRPr sz="1100" b="1">
                <a:solidFill>
                  <a:srgbClr val="D4AF37"/>
                </a:solidFill>
              </a:defRPr>
            </a:pPr>
            <a:r>
              <a:t>THE SOLUTION</a:t>
            </a:r>
          </a:p>
        </p:txBody>
      </p:sp>
      <p:sp>
        <p:nvSpPr>
          <p:cNvPr id="4" name="TextBox 3"/>
          <p:cNvSpPr txBox="1"/>
          <p:nvPr/>
        </p:nvSpPr>
        <p:spPr>
          <a:xfrm>
            <a:off x="731520" y="594360"/>
            <a:ext cx="8686800" cy="777240"/>
          </a:xfrm>
          <a:prstGeom prst="rect">
            <a:avLst/>
          </a:prstGeom>
          <a:noFill/>
        </p:spPr>
        <p:txBody>
          <a:bodyPr wrap="square">
            <a:spAutoFit/>
          </a:bodyPr>
          <a:lstStyle/>
          <a:p>
            <a:pPr>
              <a:defRPr sz="2800" b="1">
                <a:solidFill>
                  <a:srgbClr val="1B2A4A"/>
                </a:solidFill>
              </a:defRPr>
            </a:pPr>
            <a:r>
              <a:t>The Solution: A Mall-Connected Errand Hub</a:t>
            </a:r>
          </a:p>
        </p:txBody>
      </p:sp>
      <p:pic>
        <p:nvPicPr>
          <p:cNvPr id="5" name="Picture 4" descr="plan_ed_presentation_logo.png"/>
          <p:cNvPicPr>
            <a:picLocks noChangeAspect="1"/>
          </p:cNvPicPr>
          <p:nvPr/>
        </p:nvPicPr>
        <p:blipFill>
          <a:blip r:embed="rId2"/>
          <a:stretch>
            <a:fillRect/>
          </a:stretch>
        </p:blipFill>
        <p:spPr>
          <a:xfrm>
            <a:off x="9875520" y="320040"/>
            <a:ext cx="1645920" cy="822960"/>
          </a:xfrm>
          <a:prstGeom prst="rect">
            <a:avLst/>
          </a:prstGeom>
        </p:spPr>
      </p:pic>
      <p:sp>
        <p:nvSpPr>
          <p:cNvPr id="6" name="Rounded Rectangle 5"/>
          <p:cNvSpPr/>
          <p:nvPr/>
        </p:nvSpPr>
        <p:spPr>
          <a:xfrm>
            <a:off x="731520" y="1645920"/>
            <a:ext cx="2542032"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2542032" cy="109728"/>
          </a:xfrm>
          <a:prstGeom prst="rect">
            <a:avLst/>
          </a:prstGeom>
          <a:solidFill>
            <a:srgbClr val="D4AF37"/>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65960"/>
            <a:ext cx="2176272" cy="3840480"/>
          </a:xfrm>
          <a:prstGeom prst="rect">
            <a:avLst/>
          </a:prstGeom>
          <a:noFill/>
        </p:spPr>
        <p:txBody>
          <a:bodyPr wrap="square">
            <a:spAutoFit/>
          </a:bodyPr>
          <a:lstStyle/>
          <a:p>
            <a:pPr>
              <a:defRPr sz="1700" b="1">
                <a:solidFill>
                  <a:srgbClr val="1B2A4A"/>
                </a:solidFill>
              </a:defRPr>
            </a:pPr>
            <a:r>
              <a:t>Mall &amp; Store Directory</a:t>
            </a:r>
          </a:p>
          <a:p>
            <a:br/>
            <a:pPr>
              <a:defRPr sz="1300">
                <a:solidFill>
                  <a:srgbClr val="1E293B"/>
                </a:solidFill>
              </a:defRPr>
            </a:pPr>
            <a:r>
              <a:t>Links shopping items directly to Pampanga malls (SM City Clark, Marquee Mall, Nepo Mall, Newpoint Mall) and specific retail stores for targeted trips.</a:t>
            </a:r>
          </a:p>
        </p:txBody>
      </p:sp>
      <p:sp>
        <p:nvSpPr>
          <p:cNvPr id="9" name="Rounded Rectangle 8"/>
          <p:cNvSpPr/>
          <p:nvPr/>
        </p:nvSpPr>
        <p:spPr>
          <a:xfrm>
            <a:off x="3429000" y="1645920"/>
            <a:ext cx="2542032"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29000" y="1645920"/>
            <a:ext cx="2542032" cy="109728"/>
          </a:xfrm>
          <a:prstGeom prst="rect">
            <a:avLst/>
          </a:prstGeom>
          <a:solidFill>
            <a:srgbClr val="D4AF37"/>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1965960"/>
            <a:ext cx="2176272" cy="3840480"/>
          </a:xfrm>
          <a:prstGeom prst="rect">
            <a:avLst/>
          </a:prstGeom>
          <a:noFill/>
        </p:spPr>
        <p:txBody>
          <a:bodyPr wrap="square">
            <a:spAutoFit/>
          </a:bodyPr>
          <a:lstStyle/>
          <a:p>
            <a:pPr>
              <a:defRPr sz="1700" b="1">
                <a:solidFill>
                  <a:srgbClr val="1B2A4A"/>
                </a:solidFill>
              </a:defRPr>
            </a:pPr>
            <a:r>
              <a:t>Live Cost Estimation in PHP</a:t>
            </a:r>
          </a:p>
          <a:p>
            <a:br/>
            <a:pPr>
              <a:defRPr sz="1300">
                <a:solidFill>
                  <a:srgbClr val="1E293B"/>
                </a:solidFill>
              </a:defRPr>
            </a:pPr>
            <a:r>
              <a:t>Calculates automatic running totals formatted in standard Philippine Peso currency (₱0,000.00) so you always know your budget before checkout.</a:t>
            </a:r>
          </a:p>
        </p:txBody>
      </p:sp>
      <p:sp>
        <p:nvSpPr>
          <p:cNvPr id="12" name="Rounded Rectangle 11"/>
          <p:cNvSpPr/>
          <p:nvPr/>
        </p:nvSpPr>
        <p:spPr>
          <a:xfrm>
            <a:off x="6126480" y="1645920"/>
            <a:ext cx="2542032"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26480" y="1645920"/>
            <a:ext cx="2542032" cy="109728"/>
          </a:xfrm>
          <a:prstGeom prst="rect">
            <a:avLst/>
          </a:prstGeom>
          <a:solidFill>
            <a:srgbClr val="D4AF37"/>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1965960"/>
            <a:ext cx="2176272" cy="3840480"/>
          </a:xfrm>
          <a:prstGeom prst="rect">
            <a:avLst/>
          </a:prstGeom>
          <a:noFill/>
        </p:spPr>
        <p:txBody>
          <a:bodyPr wrap="square">
            <a:spAutoFit/>
          </a:bodyPr>
          <a:lstStyle/>
          <a:p>
            <a:pPr>
              <a:defRPr sz="1700" b="1">
                <a:solidFill>
                  <a:srgbClr val="1B2A4A"/>
                </a:solidFill>
              </a:defRPr>
            </a:pPr>
            <a:r>
              <a:t>Calendar Trip Planning</a:t>
            </a:r>
          </a:p>
          <a:p>
            <a:br/>
            <a:pPr>
              <a:defRPr sz="1300">
                <a:solidFill>
                  <a:srgbClr val="1E293B"/>
                </a:solidFill>
              </a:defRPr>
            </a:pPr>
            <a:r>
              <a:t>Integrated monthly calendar view to schedule shopping trips by date, view upcoming errands, and set exact native device alarms.</a:t>
            </a:r>
          </a:p>
        </p:txBody>
      </p:sp>
      <p:sp>
        <p:nvSpPr>
          <p:cNvPr id="15" name="Rounded Rectangle 14"/>
          <p:cNvSpPr/>
          <p:nvPr/>
        </p:nvSpPr>
        <p:spPr>
          <a:xfrm>
            <a:off x="8823960" y="1645920"/>
            <a:ext cx="2542032"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823960" y="1645920"/>
            <a:ext cx="2542032" cy="109728"/>
          </a:xfrm>
          <a:prstGeom prst="rect">
            <a:avLst/>
          </a:prstGeom>
          <a:solidFill>
            <a:srgbClr val="D4AF37"/>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06840" y="1965960"/>
            <a:ext cx="2176272" cy="3840480"/>
          </a:xfrm>
          <a:prstGeom prst="rect">
            <a:avLst/>
          </a:prstGeom>
          <a:noFill/>
        </p:spPr>
        <p:txBody>
          <a:bodyPr wrap="square">
            <a:spAutoFit/>
          </a:bodyPr>
          <a:lstStyle/>
          <a:p>
            <a:pPr>
              <a:defRPr sz="1700" b="1">
                <a:solidFill>
                  <a:srgbClr val="1B2A4A"/>
                </a:solidFill>
              </a:defRPr>
            </a:pPr>
            <a:r>
              <a:t>Offline-First Resilience</a:t>
            </a:r>
          </a:p>
          <a:p>
            <a:br/>
            <a:pPr>
              <a:defRPr sz="1300">
                <a:solidFill>
                  <a:srgbClr val="1E293B"/>
                </a:solidFill>
              </a:defRPr>
            </a:pPr>
            <a:r>
              <a:t>Loads checklists instantly from local device storage using AsyncStorage with background Supabase PostgreSQL synchronization.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D4AF37"/>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8229600" cy="320040"/>
          </a:xfrm>
          <a:prstGeom prst="rect">
            <a:avLst/>
          </a:prstGeom>
          <a:noFill/>
        </p:spPr>
        <p:txBody>
          <a:bodyPr wrap="square">
            <a:spAutoFit/>
          </a:bodyPr>
          <a:lstStyle/>
          <a:p>
            <a:pPr>
              <a:defRPr sz="1100" b="1">
                <a:solidFill>
                  <a:srgbClr val="D4AF37"/>
                </a:solidFill>
              </a:defRPr>
            </a:pPr>
            <a:r>
              <a:t>FEATURES &amp; DEMO</a:t>
            </a:r>
          </a:p>
        </p:txBody>
      </p:sp>
      <p:sp>
        <p:nvSpPr>
          <p:cNvPr id="4" name="TextBox 3"/>
          <p:cNvSpPr txBox="1"/>
          <p:nvPr/>
        </p:nvSpPr>
        <p:spPr>
          <a:xfrm>
            <a:off x="731520" y="594360"/>
            <a:ext cx="8686800" cy="777240"/>
          </a:xfrm>
          <a:prstGeom prst="rect">
            <a:avLst/>
          </a:prstGeom>
          <a:noFill/>
        </p:spPr>
        <p:txBody>
          <a:bodyPr wrap="square">
            <a:spAutoFit/>
          </a:bodyPr>
          <a:lstStyle/>
          <a:p>
            <a:pPr>
              <a:defRPr sz="2800" b="1">
                <a:solidFill>
                  <a:srgbClr val="1B2A4A"/>
                </a:solidFill>
              </a:defRPr>
            </a:pPr>
            <a:r>
              <a:t>Live Application Demo: Core Features</a:t>
            </a:r>
          </a:p>
        </p:txBody>
      </p:sp>
      <p:pic>
        <p:nvPicPr>
          <p:cNvPr id="5" name="Picture 4" descr="plan_ed_presentation_logo.png"/>
          <p:cNvPicPr>
            <a:picLocks noChangeAspect="1"/>
          </p:cNvPicPr>
          <p:nvPr/>
        </p:nvPicPr>
        <p:blipFill>
          <a:blip r:embed="rId2"/>
          <a:stretch>
            <a:fillRect/>
          </a:stretch>
        </p:blipFill>
        <p:spPr>
          <a:xfrm>
            <a:off x="9875520" y="320040"/>
            <a:ext cx="1645920" cy="822960"/>
          </a:xfrm>
          <a:prstGeom prst="rect">
            <a:avLst/>
          </a:prstGeom>
        </p:spPr>
      </p:pic>
      <p:sp>
        <p:nvSpPr>
          <p:cNvPr id="6" name="Rounded Rectangle 5"/>
          <p:cNvSpPr/>
          <p:nvPr/>
        </p:nvSpPr>
        <p:spPr>
          <a:xfrm>
            <a:off x="685800" y="1508760"/>
            <a:ext cx="2514600" cy="49834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00200"/>
            <a:ext cx="2331720" cy="365760"/>
          </a:xfrm>
          <a:prstGeom prst="rect">
            <a:avLst/>
          </a:prstGeom>
          <a:noFill/>
        </p:spPr>
        <p:txBody>
          <a:bodyPr wrap="none">
            <a:spAutoFit/>
          </a:bodyPr>
          <a:lstStyle/>
          <a:p>
            <a:pPr>
              <a:defRPr b="1" sz="1300">
                <a:solidFill>
                  <a:srgbClr val="1B2A4A"/>
                </a:solidFill>
              </a:defRPr>
            </a:pPr>
            <a:r>
              <a:t>1. Home &amp; Lists</a:t>
            </a:r>
          </a:p>
        </p:txBody>
      </p:sp>
      <p:pic>
        <p:nvPicPr>
          <p:cNvPr id="8" name="Picture 7" descr="home_dashboard.jpg"/>
          <p:cNvPicPr>
            <a:picLocks noChangeAspect="1"/>
          </p:cNvPicPr>
          <p:nvPr/>
        </p:nvPicPr>
        <p:blipFill>
          <a:blip r:embed="rId3"/>
          <a:stretch>
            <a:fillRect/>
          </a:stretch>
        </p:blipFill>
        <p:spPr>
          <a:xfrm>
            <a:off x="1129284" y="2011680"/>
            <a:ext cx="1627632" cy="3611880"/>
          </a:xfrm>
          <a:prstGeom prst="rect">
            <a:avLst/>
          </a:prstGeom>
        </p:spPr>
      </p:pic>
      <p:sp>
        <p:nvSpPr>
          <p:cNvPr id="9" name="TextBox 8"/>
          <p:cNvSpPr txBox="1"/>
          <p:nvPr/>
        </p:nvSpPr>
        <p:spPr>
          <a:xfrm>
            <a:off x="795528" y="5715000"/>
            <a:ext cx="2295144" cy="685800"/>
          </a:xfrm>
          <a:prstGeom prst="rect">
            <a:avLst/>
          </a:prstGeom>
          <a:noFill/>
        </p:spPr>
        <p:txBody>
          <a:bodyPr wrap="square">
            <a:spAutoFit/>
          </a:bodyPr>
          <a:lstStyle/>
          <a:p>
            <a:pPr>
              <a:defRPr sz="1050">
                <a:solidFill>
                  <a:srgbClr val="1E293B"/>
                </a:solidFill>
              </a:defRPr>
            </a:pPr>
            <a:r>
              <a:t>Adaptive two-column grid with search, custom list tags &amp; 60 FPS scroll.</a:t>
            </a:r>
          </a:p>
        </p:txBody>
      </p:sp>
      <p:sp>
        <p:nvSpPr>
          <p:cNvPr id="10" name="Rounded Rectangle 9"/>
          <p:cNvSpPr/>
          <p:nvPr/>
        </p:nvSpPr>
        <p:spPr>
          <a:xfrm>
            <a:off x="3456432" y="1508760"/>
            <a:ext cx="2514600" cy="49834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47872" y="1600200"/>
            <a:ext cx="2331720" cy="365760"/>
          </a:xfrm>
          <a:prstGeom prst="rect">
            <a:avLst/>
          </a:prstGeom>
          <a:noFill/>
        </p:spPr>
        <p:txBody>
          <a:bodyPr wrap="none">
            <a:spAutoFit/>
          </a:bodyPr>
          <a:lstStyle/>
          <a:p>
            <a:pPr>
              <a:defRPr b="1" sz="1300">
                <a:solidFill>
                  <a:srgbClr val="1B2A4A"/>
                </a:solidFill>
              </a:defRPr>
            </a:pPr>
            <a:r>
              <a:t>2. 4 Malls &amp; ₱ Budget</a:t>
            </a:r>
          </a:p>
        </p:txBody>
      </p:sp>
      <p:pic>
        <p:nvPicPr>
          <p:cNvPr id="12" name="Picture 11" descr="mall_and_budget.jpg"/>
          <p:cNvPicPr>
            <a:picLocks noChangeAspect="1"/>
          </p:cNvPicPr>
          <p:nvPr/>
        </p:nvPicPr>
        <p:blipFill>
          <a:blip r:embed="rId4"/>
          <a:stretch>
            <a:fillRect/>
          </a:stretch>
        </p:blipFill>
        <p:spPr>
          <a:xfrm>
            <a:off x="3899916" y="2011680"/>
            <a:ext cx="1627632" cy="3611880"/>
          </a:xfrm>
          <a:prstGeom prst="rect">
            <a:avLst/>
          </a:prstGeom>
        </p:spPr>
      </p:pic>
      <p:sp>
        <p:nvSpPr>
          <p:cNvPr id="13" name="TextBox 12"/>
          <p:cNvSpPr txBox="1"/>
          <p:nvPr/>
        </p:nvSpPr>
        <p:spPr>
          <a:xfrm>
            <a:off x="3566160" y="5715000"/>
            <a:ext cx="2295144" cy="685800"/>
          </a:xfrm>
          <a:prstGeom prst="rect">
            <a:avLst/>
          </a:prstGeom>
          <a:noFill/>
        </p:spPr>
        <p:txBody>
          <a:bodyPr wrap="square">
            <a:spAutoFit/>
          </a:bodyPr>
          <a:lstStyle/>
          <a:p>
            <a:pPr>
              <a:defRPr sz="1050">
                <a:solidFill>
                  <a:srgbClr val="1E293B"/>
                </a:solidFill>
              </a:defRPr>
            </a:pPr>
            <a:r>
              <a:t>SM Clark, MarQuee, Nepo, Newpoint with running cost estimates in PHP.</a:t>
            </a:r>
          </a:p>
        </p:txBody>
      </p:sp>
      <p:sp>
        <p:nvSpPr>
          <p:cNvPr id="14" name="Rounded Rectangle 13"/>
          <p:cNvSpPr/>
          <p:nvPr/>
        </p:nvSpPr>
        <p:spPr>
          <a:xfrm>
            <a:off x="6227064" y="1508760"/>
            <a:ext cx="2514600" cy="49834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18504" y="1600200"/>
            <a:ext cx="2331720" cy="365760"/>
          </a:xfrm>
          <a:prstGeom prst="rect">
            <a:avLst/>
          </a:prstGeom>
          <a:noFill/>
        </p:spPr>
        <p:txBody>
          <a:bodyPr wrap="none">
            <a:spAutoFit/>
          </a:bodyPr>
          <a:lstStyle/>
          <a:p>
            <a:pPr>
              <a:defRPr b="1" sz="1300">
                <a:solidFill>
                  <a:srgbClr val="1B2A4A"/>
                </a:solidFill>
              </a:defRPr>
            </a:pPr>
            <a:r>
              <a:t>3. Errand Calendar</a:t>
            </a:r>
          </a:p>
        </p:txBody>
      </p:sp>
      <p:pic>
        <p:nvPicPr>
          <p:cNvPr id="16" name="Picture 15" descr="errand_calendar.jpg"/>
          <p:cNvPicPr>
            <a:picLocks noChangeAspect="1"/>
          </p:cNvPicPr>
          <p:nvPr/>
        </p:nvPicPr>
        <p:blipFill>
          <a:blip r:embed="rId5"/>
          <a:stretch>
            <a:fillRect/>
          </a:stretch>
        </p:blipFill>
        <p:spPr>
          <a:xfrm>
            <a:off x="6670548" y="2011680"/>
            <a:ext cx="1627632" cy="3611880"/>
          </a:xfrm>
          <a:prstGeom prst="rect">
            <a:avLst/>
          </a:prstGeom>
        </p:spPr>
      </p:pic>
      <p:sp>
        <p:nvSpPr>
          <p:cNvPr id="17" name="TextBox 16"/>
          <p:cNvSpPr txBox="1"/>
          <p:nvPr/>
        </p:nvSpPr>
        <p:spPr>
          <a:xfrm>
            <a:off x="6336792" y="5715000"/>
            <a:ext cx="2295144" cy="685800"/>
          </a:xfrm>
          <a:prstGeom prst="rect">
            <a:avLst/>
          </a:prstGeom>
          <a:noFill/>
        </p:spPr>
        <p:txBody>
          <a:bodyPr wrap="square">
            <a:spAutoFit/>
          </a:bodyPr>
          <a:lstStyle/>
          <a:p>
            <a:pPr>
              <a:defRPr sz="1050">
                <a:solidFill>
                  <a:srgbClr val="1E293B"/>
                </a:solidFill>
              </a:defRPr>
            </a:pPr>
            <a:r>
              <a:t>Interactive monthly trip scheduling with native device reminder alarms.</a:t>
            </a:r>
          </a:p>
        </p:txBody>
      </p:sp>
      <p:sp>
        <p:nvSpPr>
          <p:cNvPr id="18" name="Rounded Rectangle 17"/>
          <p:cNvSpPr/>
          <p:nvPr/>
        </p:nvSpPr>
        <p:spPr>
          <a:xfrm>
            <a:off x="8997696" y="1508760"/>
            <a:ext cx="2514600" cy="49834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89136" y="1600200"/>
            <a:ext cx="2331720" cy="365760"/>
          </a:xfrm>
          <a:prstGeom prst="rect">
            <a:avLst/>
          </a:prstGeom>
          <a:noFill/>
        </p:spPr>
        <p:txBody>
          <a:bodyPr wrap="none">
            <a:spAutoFit/>
          </a:bodyPr>
          <a:lstStyle/>
          <a:p>
            <a:pPr>
              <a:defRPr b="1" sz="1300">
                <a:solidFill>
                  <a:srgbClr val="1B2A4A"/>
                </a:solidFill>
              </a:defRPr>
            </a:pPr>
            <a:r>
              <a:t>4. Smart Batch Tools</a:t>
            </a:r>
          </a:p>
        </p:txBody>
      </p:sp>
      <p:pic>
        <p:nvPicPr>
          <p:cNvPr id="20" name="Picture 19" descr="multi_select_delete.jpg"/>
          <p:cNvPicPr>
            <a:picLocks noChangeAspect="1"/>
          </p:cNvPicPr>
          <p:nvPr/>
        </p:nvPicPr>
        <p:blipFill>
          <a:blip r:embed="rId6"/>
          <a:stretch>
            <a:fillRect/>
          </a:stretch>
        </p:blipFill>
        <p:spPr>
          <a:xfrm>
            <a:off x="9441180" y="2011680"/>
            <a:ext cx="1627632" cy="3611880"/>
          </a:xfrm>
          <a:prstGeom prst="rect">
            <a:avLst/>
          </a:prstGeom>
        </p:spPr>
      </p:pic>
      <p:sp>
        <p:nvSpPr>
          <p:cNvPr id="21" name="TextBox 20"/>
          <p:cNvSpPr txBox="1"/>
          <p:nvPr/>
        </p:nvSpPr>
        <p:spPr>
          <a:xfrm>
            <a:off x="9107424" y="5715000"/>
            <a:ext cx="2295144" cy="685800"/>
          </a:xfrm>
          <a:prstGeom prst="rect">
            <a:avLst/>
          </a:prstGeom>
          <a:noFill/>
        </p:spPr>
        <p:txBody>
          <a:bodyPr wrap="square">
            <a:spAutoFit/>
          </a:bodyPr>
          <a:lstStyle/>
          <a:p>
            <a:pPr>
              <a:defRPr sz="1050">
                <a:solidFill>
                  <a:srgbClr val="1E293B"/>
                </a:solidFill>
              </a:defRPr>
            </a:pPr>
            <a:r>
              <a:t>Multi-select list management, batch trash, and quick sorting options.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D4AF37"/>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8229600" cy="320040"/>
          </a:xfrm>
          <a:prstGeom prst="rect">
            <a:avLst/>
          </a:prstGeom>
          <a:noFill/>
        </p:spPr>
        <p:txBody>
          <a:bodyPr wrap="square">
            <a:spAutoFit/>
          </a:bodyPr>
          <a:lstStyle/>
          <a:p>
            <a:pPr>
              <a:defRPr sz="1100" b="1">
                <a:solidFill>
                  <a:srgbClr val="D4AF37"/>
                </a:solidFill>
              </a:defRPr>
            </a:pPr>
            <a:r>
              <a:t>TECHNICAL ARCHITECTURE</a:t>
            </a:r>
          </a:p>
        </p:txBody>
      </p:sp>
      <p:sp>
        <p:nvSpPr>
          <p:cNvPr id="4" name="TextBox 3"/>
          <p:cNvSpPr txBox="1"/>
          <p:nvPr/>
        </p:nvSpPr>
        <p:spPr>
          <a:xfrm>
            <a:off x="731520" y="594360"/>
            <a:ext cx="8686800" cy="777240"/>
          </a:xfrm>
          <a:prstGeom prst="rect">
            <a:avLst/>
          </a:prstGeom>
          <a:noFill/>
        </p:spPr>
        <p:txBody>
          <a:bodyPr wrap="square">
            <a:spAutoFit/>
          </a:bodyPr>
          <a:lstStyle/>
          <a:p>
            <a:pPr>
              <a:defRPr sz="2800" b="1">
                <a:solidFill>
                  <a:srgbClr val="1B2A4A"/>
                </a:solidFill>
              </a:defRPr>
            </a:pPr>
            <a:r>
              <a:t>Full-Stack Architecture &amp; Technology Stack</a:t>
            </a:r>
          </a:p>
        </p:txBody>
      </p:sp>
      <p:pic>
        <p:nvPicPr>
          <p:cNvPr id="5" name="Picture 4" descr="plan_ed_presentation_logo.png"/>
          <p:cNvPicPr>
            <a:picLocks noChangeAspect="1"/>
          </p:cNvPicPr>
          <p:nvPr/>
        </p:nvPicPr>
        <p:blipFill>
          <a:blip r:embed="rId2"/>
          <a:stretch>
            <a:fillRect/>
          </a:stretch>
        </p:blipFill>
        <p:spPr>
          <a:xfrm>
            <a:off x="9875520" y="320040"/>
            <a:ext cx="1645920" cy="822960"/>
          </a:xfrm>
          <a:prstGeom prst="rect">
            <a:avLst/>
          </a:prstGeom>
        </p:spPr>
      </p:pic>
      <p:sp>
        <p:nvSpPr>
          <p:cNvPr id="6" name="Rounded Rectangle 5"/>
          <p:cNvSpPr/>
          <p:nvPr/>
        </p:nvSpPr>
        <p:spPr>
          <a:xfrm>
            <a:off x="731520" y="1645920"/>
            <a:ext cx="52120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4663440" cy="1645920"/>
          </a:xfrm>
          <a:prstGeom prst="rect">
            <a:avLst/>
          </a:prstGeom>
          <a:noFill/>
        </p:spPr>
        <p:txBody>
          <a:bodyPr wrap="square">
            <a:spAutoFit/>
          </a:bodyPr>
          <a:lstStyle/>
          <a:p>
            <a:pPr>
              <a:defRPr sz="1100" b="1">
                <a:solidFill>
                  <a:srgbClr val="D4AF37"/>
                </a:solidFill>
              </a:defRPr>
            </a:pPr>
            <a:r>
              <a:t>FRONTEND MOBILE</a:t>
            </a:r>
          </a:p>
          <a:p>
            <a:pPr>
              <a:defRPr sz="1700" b="1">
                <a:solidFill>
                  <a:srgbClr val="1B2A4A"/>
                </a:solidFill>
              </a:defRPr>
            </a:pPr>
            <a:r>
              <a:t>React Native 0.86 &amp; Expo SDK 57</a:t>
            </a:r>
          </a:p>
          <a:p>
            <a:pPr>
              <a:defRPr sz="1300">
                <a:solidFill>
                  <a:srgbClr val="1E293B"/>
                </a:solidFill>
              </a:defRPr>
            </a:pPr>
            <a:r>
              <a:t>File-based navigation with Expo Router, atomic design system (atoms, molecules, organisms), Safe Area Context, and custom ThemeContext (Light &amp; Dark modes).</a:t>
            </a:r>
          </a:p>
        </p:txBody>
      </p:sp>
      <p:sp>
        <p:nvSpPr>
          <p:cNvPr id="8" name="Rounded Rectangle 7"/>
          <p:cNvSpPr/>
          <p:nvPr/>
        </p:nvSpPr>
        <p:spPr>
          <a:xfrm>
            <a:off x="6172200" y="1645920"/>
            <a:ext cx="52120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828800"/>
            <a:ext cx="4663440" cy="1645920"/>
          </a:xfrm>
          <a:prstGeom prst="rect">
            <a:avLst/>
          </a:prstGeom>
          <a:noFill/>
        </p:spPr>
        <p:txBody>
          <a:bodyPr wrap="square">
            <a:spAutoFit/>
          </a:bodyPr>
          <a:lstStyle/>
          <a:p>
            <a:pPr>
              <a:defRPr sz="1100" b="1">
                <a:solidFill>
                  <a:srgbClr val="D4AF37"/>
                </a:solidFill>
              </a:defRPr>
            </a:pPr>
            <a:r>
              <a:t>BACKEND &amp; AUTH</a:t>
            </a:r>
          </a:p>
          <a:p>
            <a:pPr>
              <a:defRPr sz="1700" b="1">
                <a:solidFill>
                  <a:srgbClr val="1B2A4A"/>
                </a:solidFill>
              </a:defRPr>
            </a:pPr>
            <a:r>
              <a:t>Supabase &amp; PostgreSQL</a:t>
            </a:r>
          </a:p>
          <a:p>
            <a:pPr>
              <a:defRPr sz="1300">
                <a:solidFill>
                  <a:srgbClr val="1E293B"/>
                </a:solidFill>
              </a:defRPr>
            </a:pPr>
            <a:r>
              <a:t>Relational database modeling malls, stores, lists, and items with Row-Level Security (RLS) policies guaranteeing multi-tenant data privacy.</a:t>
            </a:r>
          </a:p>
        </p:txBody>
      </p:sp>
      <p:sp>
        <p:nvSpPr>
          <p:cNvPr id="10" name="Rounded Rectangle 9"/>
          <p:cNvSpPr/>
          <p:nvPr/>
        </p:nvSpPr>
        <p:spPr>
          <a:xfrm>
            <a:off x="731520" y="3931920"/>
            <a:ext cx="52120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4663440" cy="1645920"/>
          </a:xfrm>
          <a:prstGeom prst="rect">
            <a:avLst/>
          </a:prstGeom>
          <a:noFill/>
        </p:spPr>
        <p:txBody>
          <a:bodyPr wrap="square">
            <a:spAutoFit/>
          </a:bodyPr>
          <a:lstStyle/>
          <a:p>
            <a:pPr>
              <a:defRPr sz="1100" b="1">
                <a:solidFill>
                  <a:srgbClr val="D4AF37"/>
                </a:solidFill>
              </a:defRPr>
            </a:pPr>
            <a:r>
              <a:t>STORAGE ENGINE</a:t>
            </a:r>
          </a:p>
          <a:p>
            <a:pPr>
              <a:defRPr sz="1700" b="1">
                <a:solidFill>
                  <a:srgbClr val="1B2A4A"/>
                </a:solidFill>
              </a:defRPr>
            </a:pPr>
            <a:r>
              <a:t>AsyncStorage Cache</a:t>
            </a:r>
          </a:p>
          <a:p>
            <a:pPr>
              <a:defRPr sz="1300">
                <a:solidFill>
                  <a:srgbClr val="1E293B"/>
                </a:solidFill>
              </a:defRPr>
            </a:pPr>
            <a:r>
              <a:t>Stale-While-Revalidate caching pattern delivering instant offline launch times with seamless background PostgreSQL synchronization.</a:t>
            </a:r>
          </a:p>
        </p:txBody>
      </p:sp>
      <p:sp>
        <p:nvSpPr>
          <p:cNvPr id="12" name="Rounded Rectangle 11"/>
          <p:cNvSpPr/>
          <p:nvPr/>
        </p:nvSpPr>
        <p:spPr>
          <a:xfrm>
            <a:off x="6172200" y="3931920"/>
            <a:ext cx="52120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4114800"/>
            <a:ext cx="4663440" cy="1645920"/>
          </a:xfrm>
          <a:prstGeom prst="rect">
            <a:avLst/>
          </a:prstGeom>
          <a:noFill/>
        </p:spPr>
        <p:txBody>
          <a:bodyPr wrap="square">
            <a:spAutoFit/>
          </a:bodyPr>
          <a:lstStyle/>
          <a:p>
            <a:pPr>
              <a:defRPr sz="1100" b="1">
                <a:solidFill>
                  <a:srgbClr val="D4AF37"/>
                </a:solidFill>
              </a:defRPr>
            </a:pPr>
            <a:r>
              <a:t>DEVICE APIS &amp; BUILD</a:t>
            </a:r>
          </a:p>
          <a:p>
            <a:pPr>
              <a:defRPr sz="1700" b="1">
                <a:solidFill>
                  <a:srgbClr val="1B2A4A"/>
                </a:solidFill>
              </a:defRPr>
            </a:pPr>
            <a:r>
              <a:t>Expo Notifications &amp; EAS</a:t>
            </a:r>
          </a:p>
          <a:p>
            <a:pPr>
              <a:defRPr sz="1300">
                <a:solidFill>
                  <a:srgbClr val="1E293B"/>
                </a:solidFill>
              </a:defRPr>
            </a:pPr>
            <a:r>
              <a:t>Native exact alarm triggers (SCHEDULE_EXACT_ALARM), Expo Image Picker for avatars, and EAS Build generating standalone Android APKs.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D4AF37"/>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8229600" cy="320040"/>
          </a:xfrm>
          <a:prstGeom prst="rect">
            <a:avLst/>
          </a:prstGeom>
          <a:noFill/>
        </p:spPr>
        <p:txBody>
          <a:bodyPr wrap="square">
            <a:spAutoFit/>
          </a:bodyPr>
          <a:lstStyle/>
          <a:p>
            <a:pPr>
              <a:defRPr sz="1100" b="1">
                <a:solidFill>
                  <a:srgbClr val="D4AF37"/>
                </a:solidFill>
              </a:defRPr>
            </a:pPr>
            <a:r>
              <a:t>THE 80/20 RULE</a:t>
            </a:r>
          </a:p>
        </p:txBody>
      </p:sp>
      <p:sp>
        <p:nvSpPr>
          <p:cNvPr id="4" name="TextBox 3"/>
          <p:cNvSpPr txBox="1"/>
          <p:nvPr/>
        </p:nvSpPr>
        <p:spPr>
          <a:xfrm>
            <a:off x="731520" y="594360"/>
            <a:ext cx="8686800" cy="777240"/>
          </a:xfrm>
          <a:prstGeom prst="rect">
            <a:avLst/>
          </a:prstGeom>
          <a:noFill/>
        </p:spPr>
        <p:txBody>
          <a:bodyPr wrap="square">
            <a:spAutoFit/>
          </a:bodyPr>
          <a:lstStyle/>
          <a:p>
            <a:pPr>
              <a:defRPr sz="2800" b="1">
                <a:solidFill>
                  <a:srgbClr val="1B2A4A"/>
                </a:solidFill>
              </a:defRPr>
            </a:pPr>
            <a:r>
              <a:t>AI Pair-Programming &amp; Developer Ownership</a:t>
            </a:r>
          </a:p>
        </p:txBody>
      </p:sp>
      <p:pic>
        <p:nvPicPr>
          <p:cNvPr id="5" name="Picture 4" descr="plan_ed_presentation_logo.png"/>
          <p:cNvPicPr>
            <a:picLocks noChangeAspect="1"/>
          </p:cNvPicPr>
          <p:nvPr/>
        </p:nvPicPr>
        <p:blipFill>
          <a:blip r:embed="rId2"/>
          <a:stretch>
            <a:fillRect/>
          </a:stretch>
        </p:blipFill>
        <p:spPr>
          <a:xfrm>
            <a:off x="9875520" y="320040"/>
            <a:ext cx="1645920" cy="822960"/>
          </a:xfrm>
          <a:prstGeom prst="rect">
            <a:avLst/>
          </a:prstGeom>
        </p:spPr>
      </p:pic>
      <p:sp>
        <p:nvSpPr>
          <p:cNvPr id="6" name="Rounded Rectangle 5"/>
          <p:cNvSpPr/>
          <p:nvPr/>
        </p:nvSpPr>
        <p:spPr>
          <a:xfrm>
            <a:off x="731520" y="1645920"/>
            <a:ext cx="521208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4663440" cy="3931920"/>
          </a:xfrm>
          <a:prstGeom prst="rect">
            <a:avLst/>
          </a:prstGeom>
          <a:noFill/>
        </p:spPr>
        <p:txBody>
          <a:bodyPr wrap="square">
            <a:spAutoFit/>
          </a:bodyPr>
          <a:lstStyle/>
          <a:p>
            <a:pPr>
              <a:defRPr sz="2000" b="1">
                <a:solidFill>
                  <a:srgbClr val="1B2A4A"/>
                </a:solidFill>
              </a:defRPr>
            </a:pPr>
            <a:r>
              <a:t>How Claude Was Utilized</a:t>
            </a:r>
          </a:p>
          <a:p>
            <a:pPr>
              <a:defRPr sz="1350">
                <a:solidFill>
                  <a:srgbClr val="1E293B"/>
                </a:solidFill>
              </a:defRPr>
            </a:pPr>
            <a:r>
              <a:t>- Interactive pair-programming assistant for code reviews and architectural advice.</a:t>
            </a:r>
          </a:p>
          <a:p>
            <a:pPr>
              <a:defRPr sz="1350">
                <a:solidFill>
                  <a:srgbClr val="1E293B"/>
                </a:solidFill>
              </a:defRPr>
            </a:pPr>
            <a:r>
              <a:t>- Refactoring tricky algorithmic state transitions and notification channel setups.</a:t>
            </a:r>
          </a:p>
          <a:p>
            <a:pPr>
              <a:defRPr sz="1350">
                <a:solidFill>
                  <a:srgbClr val="1E293B"/>
                </a:solidFill>
              </a:defRPr>
            </a:pPr>
            <a:r>
              <a:t>- Generating initial seed templates and EAS build profiles.</a:t>
            </a:r>
          </a:p>
          <a:p>
            <a:pPr>
              <a:defRPr sz="1350">
                <a:solidFill>
                  <a:srgbClr val="1E293B"/>
                </a:solidFill>
              </a:defRPr>
            </a:pPr>
            <a:r>
              <a:t>- All code was reviewed, debugged, and verified under real-device testing.</a:t>
            </a:r>
          </a:p>
        </p:txBody>
      </p:sp>
      <p:sp>
        <p:nvSpPr>
          <p:cNvPr id="8" name="Rounded Rectangle 7"/>
          <p:cNvSpPr/>
          <p:nvPr/>
        </p:nvSpPr>
        <p:spPr>
          <a:xfrm>
            <a:off x="6217920" y="1645920"/>
            <a:ext cx="521208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828800"/>
            <a:ext cx="4663440" cy="3931920"/>
          </a:xfrm>
          <a:prstGeom prst="rect">
            <a:avLst/>
          </a:prstGeom>
          <a:noFill/>
        </p:spPr>
        <p:txBody>
          <a:bodyPr wrap="square">
            <a:spAutoFit/>
          </a:bodyPr>
          <a:lstStyle/>
          <a:p>
            <a:pPr>
              <a:defRPr sz="2000" b="1">
                <a:solidFill>
                  <a:srgbClr val="1B2A4A"/>
                </a:solidFill>
              </a:defRPr>
            </a:pPr>
            <a:r>
              <a:t>What I Wrote Myself (&gt;20%)</a:t>
            </a:r>
          </a:p>
          <a:p>
            <a:pPr>
              <a:defRPr sz="1350">
                <a:solidFill>
                  <a:srgbClr val="1E293B"/>
                </a:solidFill>
              </a:defRPr>
            </a:pPr>
            <a:r>
              <a:t>- Atomic UI component system (atoms, molecules, organisms) in Navy (#1B2A4A) &amp; Gold (#D4AF37).</a:t>
            </a:r>
          </a:p>
          <a:p>
            <a:pPr>
              <a:defRPr sz="1350">
                <a:solidFill>
                  <a:srgbClr val="1E293B"/>
                </a:solidFill>
              </a:defRPr>
            </a:pPr>
            <a:r>
              <a:t>- PostgreSQL relational schema and curated directories for all 4 Pampanga malls (SM City Clark, Marquee Mall, Nepo Mall, and Newpoint Mall).</a:t>
            </a:r>
          </a:p>
          <a:p>
            <a:pPr>
              <a:defRPr sz="1350">
                <a:solidFill>
                  <a:srgbClr val="1E293B"/>
                </a:solidFill>
              </a:defRPr>
            </a:pPr>
            <a:r>
              <a:t>- Expo Router file-based navigation, modal sheets, and safe-area responsive layouts.</a:t>
            </a:r>
          </a:p>
          <a:p>
            <a:pPr>
              <a:defRPr sz="1350">
                <a:solidFill>
                  <a:srgbClr val="1E293B"/>
                </a:solidFill>
              </a:defRPr>
            </a:pPr>
            <a:r>
              <a:t>- Detailed in AI-USAGE.md with exact GitHub commit hashes.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D4AF37"/>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8229600" cy="320040"/>
          </a:xfrm>
          <a:prstGeom prst="rect">
            <a:avLst/>
          </a:prstGeom>
          <a:noFill/>
        </p:spPr>
        <p:txBody>
          <a:bodyPr wrap="square">
            <a:spAutoFit/>
          </a:bodyPr>
          <a:lstStyle/>
          <a:p>
            <a:pPr>
              <a:defRPr sz="1100" b="1">
                <a:solidFill>
                  <a:srgbClr val="D4AF37"/>
                </a:solidFill>
              </a:defRPr>
            </a:pPr>
            <a:r>
              <a:t>CHALLENGES &amp; DEBUGGING</a:t>
            </a:r>
          </a:p>
        </p:txBody>
      </p:sp>
      <p:sp>
        <p:nvSpPr>
          <p:cNvPr id="4" name="TextBox 3"/>
          <p:cNvSpPr txBox="1"/>
          <p:nvPr/>
        </p:nvSpPr>
        <p:spPr>
          <a:xfrm>
            <a:off x="731520" y="594360"/>
            <a:ext cx="8686800" cy="777240"/>
          </a:xfrm>
          <a:prstGeom prst="rect">
            <a:avLst/>
          </a:prstGeom>
          <a:noFill/>
        </p:spPr>
        <p:txBody>
          <a:bodyPr wrap="square">
            <a:spAutoFit/>
          </a:bodyPr>
          <a:lstStyle/>
          <a:p>
            <a:pPr>
              <a:defRPr sz="2800" b="1">
                <a:solidFill>
                  <a:srgbClr val="1B2A4A"/>
                </a:solidFill>
              </a:defRPr>
            </a:pPr>
            <a:r>
              <a:t>Technical Challenges &amp; AI Bugs Caught</a:t>
            </a:r>
          </a:p>
        </p:txBody>
      </p:sp>
      <p:pic>
        <p:nvPicPr>
          <p:cNvPr id="5" name="Picture 4" descr="plan_ed_presentation_logo.png"/>
          <p:cNvPicPr>
            <a:picLocks noChangeAspect="1"/>
          </p:cNvPicPr>
          <p:nvPr/>
        </p:nvPicPr>
        <p:blipFill>
          <a:blip r:embed="rId2"/>
          <a:stretch>
            <a:fillRect/>
          </a:stretch>
        </p:blipFill>
        <p:spPr>
          <a:xfrm>
            <a:off x="9875520" y="320040"/>
            <a:ext cx="1645920" cy="822960"/>
          </a:xfrm>
          <a:prstGeom prst="rect">
            <a:avLst/>
          </a:prstGeom>
        </p:spPr>
      </p:pic>
      <p:sp>
        <p:nvSpPr>
          <p:cNvPr id="6" name="Rounded Rectangle 5"/>
          <p:cNvSpPr/>
          <p:nvPr/>
        </p:nvSpPr>
        <p:spPr>
          <a:xfrm>
            <a:off x="731520" y="1645920"/>
            <a:ext cx="10698480" cy="13258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55648"/>
            <a:ext cx="10149840" cy="1097280"/>
          </a:xfrm>
          <a:prstGeom prst="rect">
            <a:avLst/>
          </a:prstGeom>
          <a:noFill/>
        </p:spPr>
        <p:txBody>
          <a:bodyPr wrap="square">
            <a:spAutoFit/>
          </a:bodyPr>
          <a:lstStyle/>
          <a:p>
            <a:pPr>
              <a:defRPr sz="1600" b="1">
                <a:solidFill>
                  <a:srgbClr val="1B2A4A"/>
                </a:solidFill>
              </a:defRPr>
            </a:pPr>
            <a:r>
              <a:t>[!] Scroll Jitter in Animated Header (Commit f176920)</a:t>
            </a:r>
          </a:p>
          <a:p>
            <a:pPr>
              <a:defRPr sz="1250">
                <a:solidFill>
                  <a:srgbClr val="1E293B"/>
                </a:solidFill>
              </a:defRPr>
            </a:pPr>
            <a:r>
              <a:t>Bug: AI attempted to animate layout height (48 -&gt; 0) and vertical margin inside FlatList, forcing Yoga engine re-measure feedback loops.</a:t>
            </a:r>
            <a:br/>
            <a:r>
              <a:t>Fix: Refactored to non-layout opacity (1 -&gt; 0) and scale transforms, keeping layout dimensions fixed for solid 60 FPS scrolling.</a:t>
            </a:r>
          </a:p>
        </p:txBody>
      </p:sp>
      <p:sp>
        <p:nvSpPr>
          <p:cNvPr id="8" name="Rounded Rectangle 7"/>
          <p:cNvSpPr/>
          <p:nvPr/>
        </p:nvSpPr>
        <p:spPr>
          <a:xfrm>
            <a:off x="731520" y="3154680"/>
            <a:ext cx="10698480" cy="13258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264408"/>
            <a:ext cx="10149840" cy="1097280"/>
          </a:xfrm>
          <a:prstGeom prst="rect">
            <a:avLst/>
          </a:prstGeom>
          <a:noFill/>
        </p:spPr>
        <p:txBody>
          <a:bodyPr wrap="square">
            <a:spAutoFit/>
          </a:bodyPr>
          <a:lstStyle/>
          <a:p>
            <a:pPr>
              <a:defRPr sz="1600" b="1">
                <a:solidFill>
                  <a:srgbClr val="1B2A4A"/>
                </a:solidFill>
              </a:defRPr>
            </a:pPr>
            <a:r>
              <a:t>[!] EAS Asset Schema Validation in app.json (Commit c4af20e)</a:t>
            </a:r>
          </a:p>
          <a:p>
            <a:pPr>
              <a:defRPr sz="1250">
                <a:solidFill>
                  <a:srgbClr val="1E293B"/>
                </a:solidFill>
              </a:defRPr>
            </a:pPr>
            <a:r>
              <a:t>Bug: AI configured icon and adaptiveIcon pointing to a .jpg file, failing Expo schema validation during cloud Gradle build.</a:t>
            </a:r>
            <a:br/>
            <a:r>
              <a:t>Fix: Audited project assets with expo-doctor and updated app.json to 1024x1024 .png format, restoring 21/21 passing checks.</a:t>
            </a:r>
          </a:p>
        </p:txBody>
      </p:sp>
      <p:sp>
        <p:nvSpPr>
          <p:cNvPr id="10" name="Rounded Rectangle 9"/>
          <p:cNvSpPr/>
          <p:nvPr/>
        </p:nvSpPr>
        <p:spPr>
          <a:xfrm>
            <a:off x="731520" y="4663440"/>
            <a:ext cx="10698480" cy="13258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773168"/>
            <a:ext cx="10149840" cy="1097280"/>
          </a:xfrm>
          <a:prstGeom prst="rect">
            <a:avLst/>
          </a:prstGeom>
          <a:noFill/>
        </p:spPr>
        <p:txBody>
          <a:bodyPr wrap="square">
            <a:spAutoFit/>
          </a:bodyPr>
          <a:lstStyle/>
          <a:p>
            <a:pPr>
              <a:defRPr sz="1600" b="1">
                <a:solidFill>
                  <a:srgbClr val="1B2A4A"/>
                </a:solidFill>
              </a:defRPr>
            </a:pPr>
            <a:r>
              <a:t>[!] Brevo SMTP Integration &amp; Terms Agreement (Commit 24845d4)</a:t>
            </a:r>
          </a:p>
          <a:p>
            <a:pPr>
              <a:defRPr sz="1250">
                <a:solidFill>
                  <a:srgbClr val="1E293B"/>
                </a:solidFill>
              </a:defRPr>
            </a:pPr>
            <a:r>
              <a:t>Bug: Sandbox limitations blocked verification delivery; nested Pressable caused double-toggle checkbox glitch.</a:t>
            </a:r>
            <a:br/>
            <a:r>
              <a:t>Fix: Integrated Brevo relay credentials and built a dedicated Terms &amp; Policies modal with atomic toggle state.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D4AF37"/>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8229600" cy="320040"/>
          </a:xfrm>
          <a:prstGeom prst="rect">
            <a:avLst/>
          </a:prstGeom>
          <a:noFill/>
        </p:spPr>
        <p:txBody>
          <a:bodyPr wrap="square">
            <a:spAutoFit/>
          </a:bodyPr>
          <a:lstStyle/>
          <a:p>
            <a:pPr>
              <a:defRPr sz="1100" b="1">
                <a:solidFill>
                  <a:srgbClr val="D4AF37"/>
                </a:solidFill>
              </a:defRPr>
            </a:pPr>
            <a:r>
              <a:t>WHAT IS NEXT</a:t>
            </a:r>
          </a:p>
        </p:txBody>
      </p:sp>
      <p:sp>
        <p:nvSpPr>
          <p:cNvPr id="4" name="TextBox 3"/>
          <p:cNvSpPr txBox="1"/>
          <p:nvPr/>
        </p:nvSpPr>
        <p:spPr>
          <a:xfrm>
            <a:off x="731520" y="594360"/>
            <a:ext cx="8686800" cy="777240"/>
          </a:xfrm>
          <a:prstGeom prst="rect">
            <a:avLst/>
          </a:prstGeom>
          <a:noFill/>
        </p:spPr>
        <p:txBody>
          <a:bodyPr wrap="square">
            <a:spAutoFit/>
          </a:bodyPr>
          <a:lstStyle/>
          <a:p>
            <a:pPr>
              <a:defRPr sz="2800" b="1">
                <a:solidFill>
                  <a:srgbClr val="1B2A4A"/>
                </a:solidFill>
              </a:defRPr>
            </a:pPr>
            <a:r>
              <a:t>Future Roadmap: What is Next for Plan_.ed</a:t>
            </a:r>
          </a:p>
        </p:txBody>
      </p:sp>
      <p:pic>
        <p:nvPicPr>
          <p:cNvPr id="5" name="Picture 4" descr="plan_ed_presentation_logo.png"/>
          <p:cNvPicPr>
            <a:picLocks noChangeAspect="1"/>
          </p:cNvPicPr>
          <p:nvPr/>
        </p:nvPicPr>
        <p:blipFill>
          <a:blip r:embed="rId2"/>
          <a:stretch>
            <a:fillRect/>
          </a:stretch>
        </p:blipFill>
        <p:spPr>
          <a:xfrm>
            <a:off x="9875520" y="320040"/>
            <a:ext cx="1645920" cy="822960"/>
          </a:xfrm>
          <a:prstGeom prst="rect">
            <a:avLst/>
          </a:prstGeom>
        </p:spPr>
      </p:pic>
      <p:sp>
        <p:nvSpPr>
          <p:cNvPr id="6" name="Rounded Rectangle 5"/>
          <p:cNvSpPr/>
          <p:nvPr/>
        </p:nvSpPr>
        <p:spPr>
          <a:xfrm>
            <a:off x="731520" y="1645920"/>
            <a:ext cx="2542032"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2542032" cy="109728"/>
          </a:xfrm>
          <a:prstGeom prst="rect">
            <a:avLst/>
          </a:prstGeom>
          <a:solidFill>
            <a:srgbClr val="1B2A4A"/>
          </a:solidFill>
          <a:ln>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65960"/>
            <a:ext cx="2176272" cy="3840480"/>
          </a:xfrm>
          <a:prstGeom prst="rect">
            <a:avLst/>
          </a:prstGeom>
          <a:noFill/>
        </p:spPr>
        <p:txBody>
          <a:bodyPr wrap="square">
            <a:spAutoFit/>
          </a:bodyPr>
          <a:lstStyle/>
          <a:p>
            <a:pPr>
              <a:defRPr sz="1700" b="1">
                <a:solidFill>
                  <a:srgbClr val="1B2A4A"/>
                </a:solidFill>
              </a:defRPr>
            </a:pPr>
            <a:r>
              <a:t>In-Mall Floor Navigation</a:t>
            </a:r>
          </a:p>
          <a:p>
            <a:br/>
            <a:pPr>
              <a:defRPr sz="1300">
                <a:solidFill>
                  <a:srgbClr val="1E293B"/>
                </a:solidFill>
              </a:defRPr>
            </a:pPr>
            <a:r>
              <a:t>Step-by-step indoor mapping to locate stores inside SM City Clark, Marquee Mall, Nepo Mall, and Newpoint Mall directly on the screen.</a:t>
            </a:r>
          </a:p>
        </p:txBody>
      </p:sp>
      <p:sp>
        <p:nvSpPr>
          <p:cNvPr id="9" name="Rounded Rectangle 8"/>
          <p:cNvSpPr/>
          <p:nvPr/>
        </p:nvSpPr>
        <p:spPr>
          <a:xfrm>
            <a:off x="3429000" y="1645920"/>
            <a:ext cx="2542032"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29000" y="1645920"/>
            <a:ext cx="2542032" cy="109728"/>
          </a:xfrm>
          <a:prstGeom prst="rect">
            <a:avLst/>
          </a:prstGeom>
          <a:solidFill>
            <a:srgbClr val="1B2A4A"/>
          </a:solidFill>
          <a:ln>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1965960"/>
            <a:ext cx="2176272" cy="3840480"/>
          </a:xfrm>
          <a:prstGeom prst="rect">
            <a:avLst/>
          </a:prstGeom>
          <a:noFill/>
        </p:spPr>
        <p:txBody>
          <a:bodyPr wrap="square">
            <a:spAutoFit/>
          </a:bodyPr>
          <a:lstStyle/>
          <a:p>
            <a:pPr>
              <a:defRPr sz="1700" b="1">
                <a:solidFill>
                  <a:srgbClr val="1B2A4A"/>
                </a:solidFill>
              </a:defRPr>
            </a:pPr>
            <a:r>
              <a:t>Barcode &amp; Receipt Scanning</a:t>
            </a:r>
          </a:p>
          <a:p>
            <a:br/>
            <a:pPr>
              <a:defRPr sz="1300">
                <a:solidFill>
                  <a:srgbClr val="1E293B"/>
                </a:solidFill>
              </a:defRPr>
            </a:pPr>
            <a:r>
              <a:t>Camera integration using Expo Camera to scan product barcodes for instant price lookup and automatic checklist checking.</a:t>
            </a:r>
          </a:p>
        </p:txBody>
      </p:sp>
      <p:sp>
        <p:nvSpPr>
          <p:cNvPr id="12" name="Rounded Rectangle 11"/>
          <p:cNvSpPr/>
          <p:nvPr/>
        </p:nvSpPr>
        <p:spPr>
          <a:xfrm>
            <a:off x="6126480" y="1645920"/>
            <a:ext cx="2542032"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26480" y="1645920"/>
            <a:ext cx="2542032" cy="109728"/>
          </a:xfrm>
          <a:prstGeom prst="rect">
            <a:avLst/>
          </a:prstGeom>
          <a:solidFill>
            <a:srgbClr val="1B2A4A"/>
          </a:solidFill>
          <a:ln>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1965960"/>
            <a:ext cx="2176272" cy="3840480"/>
          </a:xfrm>
          <a:prstGeom prst="rect">
            <a:avLst/>
          </a:prstGeom>
          <a:noFill/>
        </p:spPr>
        <p:txBody>
          <a:bodyPr wrap="square">
            <a:spAutoFit/>
          </a:bodyPr>
          <a:lstStyle/>
          <a:p>
            <a:pPr>
              <a:defRPr sz="1700" b="1">
                <a:solidFill>
                  <a:srgbClr val="1B2A4A"/>
                </a:solidFill>
              </a:defRPr>
            </a:pPr>
            <a:r>
              <a:t>Real-Time Shared Lists</a:t>
            </a:r>
          </a:p>
          <a:p>
            <a:br/>
            <a:pPr>
              <a:defRPr sz="1300">
                <a:solidFill>
                  <a:srgbClr val="1E293B"/>
                </a:solidFill>
              </a:defRPr>
            </a:pPr>
            <a:r>
              <a:t>Collaborative shopping lists enabling family members or errand partners to edit lists simultaneously via Supabase Realtime.</a:t>
            </a:r>
          </a:p>
        </p:txBody>
      </p:sp>
      <p:sp>
        <p:nvSpPr>
          <p:cNvPr id="15" name="Rounded Rectangle 14"/>
          <p:cNvSpPr/>
          <p:nvPr/>
        </p:nvSpPr>
        <p:spPr>
          <a:xfrm>
            <a:off x="8823960" y="1645920"/>
            <a:ext cx="2542032"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823960" y="1645920"/>
            <a:ext cx="2542032" cy="109728"/>
          </a:xfrm>
          <a:prstGeom prst="rect">
            <a:avLst/>
          </a:prstGeom>
          <a:solidFill>
            <a:srgbClr val="1B2A4A"/>
          </a:solidFill>
          <a:ln>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06840" y="1965960"/>
            <a:ext cx="2176272" cy="3840480"/>
          </a:xfrm>
          <a:prstGeom prst="rect">
            <a:avLst/>
          </a:prstGeom>
          <a:noFill/>
        </p:spPr>
        <p:txBody>
          <a:bodyPr wrap="square">
            <a:spAutoFit/>
          </a:bodyPr>
          <a:lstStyle/>
          <a:p>
            <a:pPr>
              <a:defRPr sz="1700" b="1">
                <a:solidFill>
                  <a:srgbClr val="1B2A4A"/>
                </a:solidFill>
              </a:defRPr>
            </a:pPr>
            <a:r>
              <a:t>Smart Errand Route Optimizer</a:t>
            </a:r>
          </a:p>
          <a:p>
            <a:br/>
            <a:pPr>
              <a:defRPr sz="1300">
                <a:solidFill>
                  <a:srgbClr val="1E293B"/>
                </a:solidFill>
              </a:defRPr>
            </a:pPr>
            <a:r>
              <a:t>Automated sorting algorithm that arranges checklist items based on physical store proximity to minimize walking distance.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